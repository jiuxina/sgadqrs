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737360"/>
            <a:ext cx="5120640" cy="5120640"/>
          </a:xfrm>
          <a:prstGeom prst="ellipse">
            <a:avLst/>
          </a:prstGeom>
          <a:solidFill>
            <a:srgbClr val="4F46E5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-731520"/>
            <a:ext cx="3108960" cy="3108960"/>
          </a:xfrm>
          <a:prstGeom prst="ellipse">
            <a:avLst/>
          </a:prstGeom>
          <a:solidFill>
            <a:srgbClr val="F97316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846320"/>
            <a:ext cx="4206240" cy="4206240"/>
          </a:xfrm>
          <a:prstGeom prst="ellipse">
            <a:avLst/>
          </a:prstGeom>
          <a:solidFill>
            <a:srgbClr val="4F46E5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692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《软件综合实践》课程项目答辩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赛友 TeamUp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28529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学生竞赛信息管理与组队社区平台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竞赛发布 · 智能组队 · 报名审核 · 成绩管理 · 消息通知 —— 覆盖竞赛组织全流程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514246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33672"/>
            <a:ext cx="15142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36038" y="4224528"/>
            <a:ext cx="1664208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6038" y="423367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64838" y="4224528"/>
            <a:ext cx="2039112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4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64838" y="4233672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8542" y="4224528"/>
            <a:ext cx="1439266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4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8542" y="4233672"/>
            <a:ext cx="14392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4224528"/>
            <a:ext cx="1364285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4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4233672"/>
            <a:ext cx="136428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鉴权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01277" y="4224528"/>
            <a:ext cx="1364285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4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1277" y="4233672"/>
            <a:ext cx="136428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＿ 组    组长：＿＿＿＿＿    组员：＿＿＿＿＿＿＿＿＿＿＿＿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144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9 月 · 指导老师：＿＿＿＿＿＿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OUTLINE · 汇报大纲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六大板块，对应考核体系三项指标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2893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项目背景与需求调研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00200" y="174650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痛点分析 · 问卷访谈 · 竞品与文献调研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600200" y="2130552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1122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需求分析与系统设计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600200" y="256946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三角色用例 · 分层架构 · 8 表数据模型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600200" y="2953512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29352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600200" y="339242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竞赛全生命周期 · 组队社区 · 报名成绩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600200" y="3776472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7581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界面设计与创新点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600200" y="421538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Liquid Glass 设计语言 · 四大亮点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600200" y="4599432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17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00200" y="45811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600200" y="503834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全链路冒烟回归 · 9 步业务闭环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600200" y="5422392"/>
            <a:ext cx="5577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40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00200" y="54041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团队合作与项目管理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600200" y="586130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分工协作 · 进度管控 · 总结展望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635240" y="1371600"/>
            <a:ext cx="4096512" cy="1481328"/>
          </a:xfrm>
          <a:prstGeom prst="roundRect">
            <a:avLst>
              <a:gd name="adj" fmla="val 3704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18120" y="14447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781812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分析研究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281160" y="15544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需求调研 · 方案设计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功能实现 · 界面质量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35240" y="2999232"/>
            <a:ext cx="4096512" cy="1481328"/>
          </a:xfrm>
          <a:prstGeom prst="roundRect">
            <a:avLst>
              <a:gd name="adj" fmla="val 3704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18120" y="307238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34%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7818120" y="38679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团队合作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281160" y="3182112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有效沟通 · 分享协作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协调整合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635240" y="4626864"/>
            <a:ext cx="4096512" cy="1481328"/>
          </a:xfrm>
          <a:prstGeom prst="roundRect">
            <a:avLst>
              <a:gd name="adj" fmla="val 3704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818120" y="470001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16%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818120" y="54955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281160" y="48097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计划管控 · 进度掌控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效益与影响分析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635240" y="6089904"/>
            <a:ext cx="4096512" cy="384048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/>
        </p:spPr>
      </p:sp>
      <p:sp>
        <p:nvSpPr>
          <p:cNvPr id="42" name="Text 40"/>
          <p:cNvSpPr/>
          <p:nvPr/>
        </p:nvSpPr>
        <p:spPr>
          <a:xfrm>
            <a:off x="7635240" y="609904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讲解内容与考核指标逐项对应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研究能力 —— 需求调研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项目背景：竞赛组织为什么需要一个新系统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高校竞赛组织现状的四类痛点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5870448" cy="713232"/>
          </a:xfrm>
          <a:prstGeom prst="roundRect">
            <a:avLst>
              <a:gd name="adj" fmla="val 12821"/>
            </a:avLst>
          </a:prstGeom>
          <a:solidFill>
            <a:srgbClr val="F6F7FC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20574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0665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9933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2011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竞赛通知散落在 QQ 群、官网、海报，易错过报名窗口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5870448" cy="713232"/>
          </a:xfrm>
          <a:prstGeom prst="roundRect">
            <a:avLst>
              <a:gd name="adj" fmla="val 12821"/>
            </a:avLst>
          </a:prstGeom>
          <a:solidFill>
            <a:srgbClr val="F6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286207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8712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27980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组队困难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2816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跨专业、跨年级找队友靠人脉转发，技能匹配度低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93008"/>
            <a:ext cx="5870448" cy="713232"/>
          </a:xfrm>
          <a:prstGeom prst="roundRect">
            <a:avLst>
              <a:gd name="adj" fmla="val 12821"/>
            </a:avLst>
          </a:prstGeom>
          <a:solidFill>
            <a:srgbClr val="F6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3666744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6758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36027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流程混乱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14600" y="36210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 / 微信群报名，审核无留痕，名单靠人工统计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5870448" cy="713232"/>
          </a:xfrm>
          <a:prstGeom prst="roundRect">
            <a:avLst>
              <a:gd name="adj" fmla="val 12821"/>
            </a:avLst>
          </a:prstGeom>
          <a:solidFill>
            <a:srgbClr val="F6F7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" y="4471416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4805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5568" y="44074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数据缺失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14600" y="44256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获奖成绩无统一归档，学院难以汇总竞赛成果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137160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调研方法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37960" y="1883664"/>
            <a:ext cx="5193792" cy="3383280"/>
          </a:xfrm>
          <a:prstGeom prst="roundRect">
            <a:avLst>
              <a:gd name="adj" fmla="val 1622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问卷与访谈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766560" y="246888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面向同学与指导老师发放问卷、开展访谈，收集报名与组队环节的真实痛点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3072384"/>
            <a:ext cx="4754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1363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766560" y="3502152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调研“到梦空间”、各竞赛官网报名系统与校园 QQ 群组队模式，分析优劣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4105656"/>
            <a:ext cx="4754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41696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文献调研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766560" y="4535424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查阅需求分析与管理信息系统设计相关文献与工程实践，确定技术路线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120640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EEF0FE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230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识别的复杂工程问题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85800" y="559612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多角色权限下业务状态机的一致性管理  ·  组队匹配的交互与数据设计  ·  数据结构精简与可扩展性的平衡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需求分析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三种角色 · 六类业务模块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4160520"/>
          </a:xfrm>
          <a:prstGeom prst="roundRect">
            <a:avLst>
              <a:gd name="adj" fmla="val 1500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27632"/>
            <a:ext cx="310896" cy="310896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572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31343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730A3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2311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用户管理：启停、重置密码、批量操作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1810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730A3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035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竞赛审核发布与全局报名监管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92277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730A3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数据统计看板与公告发布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7274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730A3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46451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全院竞赛数据资产沉淀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70832" y="1371600"/>
            <a:ext cx="3657600" cy="4160520"/>
          </a:xfrm>
          <a:prstGeom prst="roundRect">
            <a:avLst>
              <a:gd name="adj" fmla="val 1500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627632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572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645152" y="231343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2311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/ 编辑 / 发布竞赛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45152" y="311810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035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团队组建审核与指导分配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45152" y="392277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成绩录入、排名与奖项发布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47274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46451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查看名下竞赛与参赛情况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84464" y="1371600"/>
            <a:ext cx="3657600" cy="4160520"/>
          </a:xfrm>
          <a:prstGeom prst="roundRect">
            <a:avLst>
              <a:gd name="adj" fmla="val 1500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40496" y="1627632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8942832" y="1572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8558784" y="231343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8851392" y="22311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竞赛浏览 · 关键词搜索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58784" y="311810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8851392" y="3035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组队报名与招募广场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58784" y="392277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8851392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互看 / 入队申请 · 消息通知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58784" y="47274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8851392" y="46451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成绩、参赛历史与个人中心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5687568"/>
            <a:ext cx="11274552" cy="566928"/>
          </a:xfrm>
          <a:prstGeom prst="roundRect">
            <a:avLst>
              <a:gd name="adj" fmla="val 11290"/>
            </a:avLst>
          </a:prstGeom>
          <a:solidFill>
            <a:srgbClr val="1E1B3A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5742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非功能需求：JWT 无状态鉴权 + 三角色权限控制  ·  角色路由守卫  ·  统一响应体与全局异常处理  ·  状态自动推进与级联一致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系统设计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前后端分离的分层系统架构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589520" cy="1078992"/>
          </a:xfrm>
          <a:prstGeom prst="roundRect">
            <a:avLst>
              <a:gd name="adj" fmla="val 5085"/>
            </a:avLst>
          </a:prstGeom>
          <a:solidFill>
            <a:srgbClr val="F6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18488"/>
            <a:ext cx="1691640" cy="676656"/>
          </a:xfrm>
          <a:prstGeom prst="roundRect">
            <a:avLst>
              <a:gd name="adj" fmla="val 13514"/>
            </a:avLst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2763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14600" y="15453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SPA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514600" y="19476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4 · Zustand 5 · React Router 7 · Motion 动画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2532888"/>
            <a:ext cx="1005840" cy="0"/>
          </a:xfrm>
          <a:prstGeom prst="line">
            <a:avLst/>
          </a:prstGeom>
          <a:noFill/>
          <a:ln w="2222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846320" y="2350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Axios（JWT 拦截器）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715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/ JSON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62072"/>
            <a:ext cx="7589520" cy="1078992"/>
          </a:xfrm>
          <a:prstGeom prst="roundRect">
            <a:avLst>
              <a:gd name="adj" fmla="val 5085"/>
            </a:avLst>
          </a:prstGeom>
          <a:solidFill>
            <a:srgbClr val="F6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1691640" cy="676656"/>
          </a:xfrm>
          <a:prstGeom prst="roundRect">
            <a:avLst>
              <a:gd name="adj" fmla="val 13514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7238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514600" y="29900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3.2.5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514600" y="339242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 × 13 · Service × 12 · Spring Security + JWT · EasyExcel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49040" y="3977640"/>
            <a:ext cx="1005840" cy="0"/>
          </a:xfrm>
          <a:prstGeom prst="line">
            <a:avLst/>
          </a:prstGeom>
          <a:noFill/>
          <a:ln w="2222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84632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MyBatis-Plus 3.5.6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160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ORM · 自动映射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06824"/>
            <a:ext cx="7589520" cy="1078992"/>
          </a:xfrm>
          <a:prstGeom prst="roundRect">
            <a:avLst>
              <a:gd name="adj" fmla="val 5085"/>
            </a:avLst>
          </a:prstGeom>
          <a:solidFill>
            <a:srgbClr val="F6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07992"/>
            <a:ext cx="1691640" cy="676656"/>
          </a:xfrm>
          <a:prstGeom prst="roundRect">
            <a:avLst>
              <a:gd name="adj" fmla="val 13514"/>
            </a:avLst>
          </a:prstGeom>
          <a:solidFill>
            <a:srgbClr val="3730A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1713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数据持久层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514600" y="4434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8（Docker）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2514600" y="483717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张核心表 · JSON 灵活字段 · 事务与索引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12480" y="1417320"/>
            <a:ext cx="3319272" cy="4297680"/>
          </a:xfrm>
          <a:prstGeom prst="roundRect">
            <a:avLst>
              <a:gd name="adj" fmla="val 1653"/>
            </a:avLst>
          </a:prstGeom>
          <a:solidFill>
            <a:srgbClr val="EEF0F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41080" y="16276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工程化配套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641080" y="21214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代理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641080" y="243230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一键转发 /api，免跨域配置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41080" y="283464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Swagger OpenAPI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641080" y="314553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 个端点在线文档与调试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41080" y="35478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Result 封装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641080" y="38587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{code, message, data} 契约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41080" y="4261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全局异常处理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641080" y="457200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 / 403 / 500 状态码语义化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41080" y="497433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文件上传服务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641080" y="528523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/ 附件 / 报名材料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技术选型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技术栈与选型理由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3794760"/>
        </p:xfrm>
        <a:graphic>
          <a:graphicData uri="http://schemas.openxmlformats.org/drawingml/2006/table">
            <a:tbl>
              <a:tblPr/>
              <a:tblGrid>
                <a:gridCol w="2011680"/>
                <a:gridCol w="4251960"/>
                <a:gridCol w="501091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选型理由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前端框架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React 19 + TypeScript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生态成熟 · 类型安全 · Hooks 组件化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 / 样式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Tailwind CSS 4 + Motion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原子化样式，快速实现玻璃拟态与动效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后端框架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Spring Boot 3.2.5（Java 17）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LTS 支持 · REST 生态完善 · 事务与安全开箱即用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MyBatis-Plus 3.5.6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CRUD 零 SQL，复杂查询仍可手写控制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8（Docker）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 字段支持灵活结构 · 容器化一键部署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认证安全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JWT + Spring Security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无状态鉴权 · 三角色权限矩阵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49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开发工具链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874520" y="5367528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 w="9525">
            <a:solidFill>
              <a:srgbClr val="D6D9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74520" y="5372100"/>
            <a:ext cx="11201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04388" y="5367528"/>
            <a:ext cx="1531620" cy="310896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 w="9525">
            <a:solidFill>
              <a:srgbClr val="D6D9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4388" y="5372100"/>
            <a:ext cx="15316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IntelliJ IDEA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45736" y="5367528"/>
            <a:ext cx="982980" cy="310896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 w="9525">
            <a:solidFill>
              <a:srgbClr val="D6D9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45736" y="5372100"/>
            <a:ext cx="9829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Maven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838444" y="536752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 w="9525">
            <a:solidFill>
              <a:srgbClr val="D6D9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38444" y="537210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Desktop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48372" y="5367528"/>
            <a:ext cx="845820" cy="310896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 w="9525">
            <a:solidFill>
              <a:srgbClr val="D6D9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8372" y="5372100"/>
            <a:ext cx="8458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503920" y="5367528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 w="9525">
            <a:solidFill>
              <a:srgbClr val="D6D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0" y="5372100"/>
            <a:ext cx="11201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Swagger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733788" y="5367528"/>
            <a:ext cx="1668780" cy="310896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 w="9525">
            <a:solidFill>
              <a:srgbClr val="D6D9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733788" y="5372100"/>
            <a:ext cx="16687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Chrome DevTools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59436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开发工具与语言即可作为答辩问题 1 的直接答案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数据库设计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表数据模型：从 15 张精简而来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274320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34640" y="2852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sys_user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三角色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1554480"/>
            <a:ext cx="1965960" cy="731520"/>
          </a:xfrm>
          <a:prstGeom prst="roundRect">
            <a:avLst>
              <a:gd name="adj" fmla="val 11250"/>
            </a:avLst>
          </a:prstGeom>
          <a:solidFill>
            <a:srgbClr val="EEF0FE"/>
          </a:solidFill>
          <a:ln w="9525">
            <a:solidFill>
              <a:srgbClr val="C7CB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276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19385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竞赛信息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1554480"/>
            <a:ext cx="1965960" cy="731520"/>
          </a:xfrm>
          <a:prstGeom prst="roundRect">
            <a:avLst>
              <a:gd name="adj" fmla="val 11250"/>
            </a:avLst>
          </a:prstGeom>
          <a:solidFill>
            <a:srgbClr val="EEF0FE"/>
          </a:solidFill>
          <a:ln w="9525">
            <a:solidFill>
              <a:srgbClr val="C7CB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6276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recruit_post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63240" y="19385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招募帖子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1554480"/>
            <a:ext cx="1965960" cy="731520"/>
          </a:xfrm>
          <a:prstGeom prst="roundRect">
            <a:avLst>
              <a:gd name="adj" fmla="val 11250"/>
            </a:avLst>
          </a:prstGeom>
          <a:solidFill>
            <a:srgbClr val="EEF0FE"/>
          </a:solidFill>
          <a:ln w="9525">
            <a:solidFill>
              <a:srgbClr val="C7CB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6276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sys_notification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40680" y="19385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系统消息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246120"/>
            <a:ext cx="1965960" cy="731520"/>
          </a:xfrm>
          <a:prstGeom prst="roundRect">
            <a:avLst>
              <a:gd name="adj" fmla="val 11250"/>
            </a:avLst>
          </a:prstGeom>
          <a:solidFill>
            <a:srgbClr val="EEF0FE"/>
          </a:solidFill>
          <a:ln w="9525">
            <a:solidFill>
              <a:srgbClr val="C7CB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31927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team_member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3630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246120"/>
            <a:ext cx="1965960" cy="731520"/>
          </a:xfrm>
          <a:prstGeom prst="roundRect">
            <a:avLst>
              <a:gd name="adj" fmla="val 11250"/>
            </a:avLst>
          </a:prstGeom>
          <a:solidFill>
            <a:srgbClr val="EEF0FE"/>
          </a:solidFill>
          <a:ln w="9525">
            <a:solidFill>
              <a:srgbClr val="C7CB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31927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community_request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09160" y="3630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互动请求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846320"/>
            <a:ext cx="1965960" cy="731520"/>
          </a:xfrm>
          <a:prstGeom prst="roundRect">
            <a:avLst>
              <a:gd name="adj" fmla="val 11250"/>
            </a:avLst>
          </a:prstGeom>
          <a:solidFill>
            <a:srgbClr val="EEF0FE"/>
          </a:solidFill>
          <a:ln w="9525">
            <a:solidFill>
              <a:srgbClr val="C7CB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91947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competition_team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" y="5230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竞赛团队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11880" y="4846320"/>
            <a:ext cx="1965960" cy="731520"/>
          </a:xfrm>
          <a:prstGeom prst="roundRect">
            <a:avLst>
              <a:gd name="adj" fmla="val 11250"/>
            </a:avLst>
          </a:prstGeom>
          <a:solidFill>
            <a:srgbClr val="EEF0FE"/>
          </a:solidFill>
          <a:ln w="9525">
            <a:solidFill>
              <a:srgbClr val="C7CB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491947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competition_result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611880" y="5230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竞赛成绩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2788920"/>
            <a:ext cx="-640080" cy="-502920"/>
          </a:xfrm>
          <a:prstGeom prst="line">
            <a:avLst/>
          </a:prstGeom>
          <a:noFill/>
          <a:ln w="12700">
            <a:solidFill>
              <a:srgbClr val="A5B4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788920"/>
            <a:ext cx="822960" cy="-502920"/>
          </a:xfrm>
          <a:prstGeom prst="line">
            <a:avLst/>
          </a:prstGeom>
          <a:noFill/>
          <a:ln w="12700">
            <a:solidFill>
              <a:srgbClr val="A5B4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2788920"/>
            <a:ext cx="3017520" cy="-502920"/>
          </a:xfrm>
          <a:prstGeom prst="line">
            <a:avLst/>
          </a:prstGeom>
          <a:noFill/>
          <a:ln w="12700">
            <a:solidFill>
              <a:srgbClr val="A5B4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3657600"/>
            <a:ext cx="-457200" cy="-91440"/>
          </a:xfrm>
          <a:prstGeom prst="line">
            <a:avLst/>
          </a:prstGeom>
          <a:noFill/>
          <a:ln w="12700">
            <a:solidFill>
              <a:srgbClr val="A5B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657600"/>
            <a:ext cx="1691640" cy="-91440"/>
          </a:xfrm>
          <a:prstGeom prst="line">
            <a:avLst/>
          </a:prstGeom>
          <a:noFill/>
          <a:ln w="12700">
            <a:solidFill>
              <a:srgbClr val="A5B4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3657600"/>
            <a:ext cx="-640080" cy="1188720"/>
          </a:xfrm>
          <a:prstGeom prst="line">
            <a:avLst/>
          </a:prstGeom>
          <a:noFill/>
          <a:ln w="12700">
            <a:solidFill>
              <a:srgbClr val="A5B4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3657600"/>
            <a:ext cx="1188720" cy="1188720"/>
          </a:xfrm>
          <a:prstGeom prst="line">
            <a:avLst/>
          </a:prstGeom>
          <a:noFill/>
          <a:ln w="12700">
            <a:solidFill>
              <a:srgbClr val="A5B4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8704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: N 关系 · sys_user 为三角色主表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72400" y="1417320"/>
            <a:ext cx="3959352" cy="4709160"/>
          </a:xfrm>
          <a:prstGeom prst="roundRect">
            <a:avLst>
              <a:gd name="adj" fmla="val 1386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001000" y="1645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设计亮点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8001000" y="21488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937260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8 表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8001000" y="29992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 精简：三张社区化迭代中合并冗余表，结构更清晰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001000" y="3703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灵活字段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00100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awards 奖项 / attachments 附件自描述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001000" y="43068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命名统一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001000" y="4581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snake_case ↔ camelCase 自动映射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001000" y="4910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逻辑外键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001000" y="5184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不加物理外键，便于 Lean 重构演进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001000" y="5513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索引覆盖查询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001000" y="5788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状态、发布人、报名人高频索引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57200" y="6144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来源：backend/sql/init.sql · docs/ER-DIAGRAM.md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核心功能（一）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竞赛全生命周期状态机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56816" cy="914400"/>
          </a:xfrm>
          <a:prstGeom prst="roundRect">
            <a:avLst>
              <a:gd name="adj" fmla="val 10000"/>
            </a:avLst>
          </a:prstGeom>
          <a:solidFill>
            <a:srgbClr val="9AA0F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00784"/>
            <a:ext cx="1956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27732" y="2121408"/>
            <a:ext cx="192024" cy="0"/>
          </a:xfrm>
          <a:prstGeom prst="line">
            <a:avLst/>
          </a:prstGeom>
          <a:noFill/>
          <a:ln w="19050">
            <a:solidFill>
              <a:srgbClr val="8BA0F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33472" y="1691640"/>
            <a:ext cx="1956816" cy="914400"/>
          </a:xfrm>
          <a:prstGeom prst="roundRect">
            <a:avLst>
              <a:gd name="adj" fmla="val 10000"/>
            </a:avLst>
          </a:prstGeom>
          <a:solidFill>
            <a:srgbClr val="6D6AD9"/>
          </a:solidFill>
          <a:ln/>
        </p:spPr>
      </p:sp>
      <p:sp>
        <p:nvSpPr>
          <p:cNvPr id="10" name="Text 8"/>
          <p:cNvSpPr/>
          <p:nvPr/>
        </p:nvSpPr>
        <p:spPr>
          <a:xfrm>
            <a:off x="2633472" y="1700784"/>
            <a:ext cx="1956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04004" y="2121408"/>
            <a:ext cx="192024" cy="0"/>
          </a:xfrm>
          <a:prstGeom prst="line">
            <a:avLst/>
          </a:prstGeom>
          <a:noFill/>
          <a:ln w="19050">
            <a:solidFill>
              <a:srgbClr val="8BA0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09744" y="1691640"/>
            <a:ext cx="1956816" cy="914400"/>
          </a:xfrm>
          <a:prstGeom prst="roundRect">
            <a:avLst>
              <a:gd name="adj" fmla="val 10000"/>
            </a:avLst>
          </a:prstGeom>
          <a:solidFill>
            <a:srgbClr val="9AA0F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9744" y="1700784"/>
            <a:ext cx="1956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已发布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780276" y="2121408"/>
            <a:ext cx="192024" cy="0"/>
          </a:xfrm>
          <a:prstGeom prst="line">
            <a:avLst/>
          </a:prstGeom>
          <a:noFill/>
          <a:ln w="19050">
            <a:solidFill>
              <a:srgbClr val="8BA0F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86016" y="1691640"/>
            <a:ext cx="1956816" cy="91440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6986016" y="1700784"/>
            <a:ext cx="1956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56548" y="2121408"/>
            <a:ext cx="192024" cy="0"/>
          </a:xfrm>
          <a:prstGeom prst="line">
            <a:avLst/>
          </a:prstGeom>
          <a:noFill/>
          <a:ln w="19050">
            <a:solidFill>
              <a:srgbClr val="8BA0F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62288" y="1691640"/>
            <a:ext cx="1956816" cy="91440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/>
        </p:spPr>
      </p:sp>
      <p:sp>
        <p:nvSpPr>
          <p:cNvPr id="19" name="Text 17"/>
          <p:cNvSpPr/>
          <p:nvPr/>
        </p:nvSpPr>
        <p:spPr>
          <a:xfrm>
            <a:off x="9162288" y="1700784"/>
            <a:ext cx="1956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已结束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633472" y="3063240"/>
            <a:ext cx="1463040" cy="713232"/>
          </a:xfrm>
          <a:prstGeom prst="roundRect">
            <a:avLst>
              <a:gd name="adj" fmla="val 12821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3072384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已驳回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34640" y="3035808"/>
            <a:ext cx="0" cy="-438912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08960" y="3035808"/>
            <a:ext cx="0" cy="-45720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2578608"/>
            <a:ext cx="-27432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38912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审核不通过 → 退回草稿，可修改后重新提交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EE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43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状态自动推进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85800" y="471830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定时任务按报名截止 / 比赛时间自动流转：到点即从未发布 → 进行中 → 已结束，无需人工干预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状态即权限：草稿仅发布人可见 · 待审核由管理员审 · 已发布对全校开放报名 · 已结束锁定并归档成绩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594360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个主状态 + 驳回分支，覆盖竞赛从发布到归档的完整生命周期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核心功能（二）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组队社区 TeamUp：从“报名”到“组队”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27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25296" y="1664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发布招募/求组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带技能标签与截止时间，招募帖可自动建队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96896" y="2212848"/>
            <a:ext cx="182880" cy="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98064" y="1481328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62656" y="1627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66160" y="1664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广场浏览·搜索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62656" y="221284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按方向标签、关键词筛选全局招募帖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212848"/>
            <a:ext cx="182880" cy="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38928" y="1481328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1627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07024" y="1664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互看认识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221284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浏览对方主页，技能标签与经历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78624" y="2212848"/>
            <a:ext cx="182880" cy="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79792" y="1481328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44384" y="1627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47888" y="1664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申请/邀请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44384" y="221284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队长处理入队申请，也可主动邀请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19488" y="2212848"/>
            <a:ext cx="182880" cy="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20656" y="1481328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985248" y="1627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588752" y="166420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85248" y="221284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队伍满员提交审核，关联竞赛报名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401568"/>
            <a:ext cx="11274552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31520" y="4133088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1078992" y="40782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帖子即队伍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926080" y="40873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招募帖直接建队，帖子与队伍一体化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09360" y="4133088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6656832" y="40782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双向互动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03920" y="40873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互看、入队申请/邀请三类请求统一流转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31520" y="484632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1078992" y="4791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队伍详情页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926080" y="4800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成员、口号、状态、一键跳转，信息透明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309360" y="4846320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42" name="Text 40"/>
          <p:cNvSpPr/>
          <p:nvPr/>
        </p:nvSpPr>
        <p:spPr>
          <a:xfrm>
            <a:off x="6656832" y="4791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状态通知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503920" y="4800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申请同意/拒绝，消息中心即时通知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31520" y="5559552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1078992" y="55046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审核闭环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926080" y="5513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教师审核队伍，意见级联到每名成员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" y="61081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对照答辩问题 4：组队社区是本系统“校园特色”与差异化亮点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核心功能（三）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报名审核与成绩管理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276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报名审核流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2494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21579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提交报名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2157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个人或随团队报名，上传附件与备注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6148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教师审核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/ 拒绝并填写审核备注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7355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704" y="3182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留痕归档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3182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审核时间与意见写入记录，可追溯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78561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1060704" y="36941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状态通知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14600" y="3694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学生端实时可见结果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5352" y="1417320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9672" y="16276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成绩管理流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19672" y="22494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6848856" y="21579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录入成绩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02752" y="2157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 · 排名 · 奖项等级（支持自定义奖项）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19672" y="276148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848856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02752" y="2670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教师确认后发布，学生端可见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19672" y="327355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6848856" y="3182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历史归档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02752" y="3182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沉淀为参赛历史，可长期查询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19672" y="378561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6848856" y="36941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数据复用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02752" y="36941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导出成绩单 / 同步统计数据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526280"/>
            <a:ext cx="11274552" cy="1481328"/>
          </a:xfrm>
          <a:prstGeom prst="roundRect">
            <a:avLst>
              <a:gd name="adj" fmla="val 4321"/>
            </a:avLst>
          </a:prstGeom>
          <a:solidFill>
            <a:srgbClr val="EEF0FE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4681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查找与模糊搜索 + 一键导出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13232" y="506577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LIKE 模糊查询：竞赛名称 · 主办单位 · 用户姓名 · 招募帖标题 · 获奖信息，列表均支持分页与搜索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3232" y="54681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EasyExcel 导出报名名单与成绩单，替代人工统计表格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1996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可直接回答：答辩问题 6 / 7（查找与模糊搜索字段）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核心功能（四）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消息中心：三类消息 · 全站跳转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1645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627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 announcement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管理员向全员发布通知、报名提醒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全员触达覆盖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0832" y="141732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1645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974336" y="1627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 interaction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互看、入队申请 / 邀请、审核结果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08576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最多交互 · 即答即达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84464" y="141732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22208" y="1645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6D6AD9"/>
          </a:solidFill>
          <a:ln/>
        </p:spPr>
      </p:sp>
      <p:sp>
        <p:nvSpPr>
          <p:cNvPr id="18" name="Text 16"/>
          <p:cNvSpPr/>
          <p:nvPr/>
        </p:nvSpPr>
        <p:spPr>
          <a:xfrm>
            <a:off x="8887968" y="1627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6A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 system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22208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状态变更、成绩发布等系统提示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22208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6A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流程联动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消息触达能力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58114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07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未读角标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377440" y="4526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导航栏实时未读数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70832" y="458114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4507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一键已读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91072" y="4526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批量标记，红点清零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29437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2212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置顶公告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377440" y="5239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重要通知置顶展示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70832" y="529437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4736592" y="52212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全站跳转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91072" y="5239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点击直达对应业务页面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74552" cy="457200"/>
          </a:xfrm>
          <a:prstGeom prst="roundRect">
            <a:avLst>
              <a:gd name="adj" fmla="val 14000"/>
            </a:avLst>
          </a:prstGeom>
          <a:solidFill>
            <a:srgbClr val="1E1B3A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998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消息带引用（ref_type + ref_id），点击可直接跳转到对应业务页面 —— 信息闭环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界面设计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Liquid Glass 设计语言 · 组件化工程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2336" y="1362456"/>
            <a:ext cx="3017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pic>
        <p:nvPicPr>
          <p:cNvPr id="7" name="Image 0" descr="F:\xm\SGADQRS\docs\defense-ppt\shots\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2907792" cy="1856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38144" y="1362456"/>
            <a:ext cx="3017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pic>
        <p:nvPicPr>
          <p:cNvPr id="9" name="Image 1" descr="F:\xm\SGADQRS\docs\defense-ppt\shots\02-student-competit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93008" y="1417320"/>
            <a:ext cx="2907792" cy="18562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340156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真实界面：登录页 / 学生竞赛列表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2336" y="3831336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pic>
        <p:nvPicPr>
          <p:cNvPr id="12" name="Image 2" descr="F:\xm\SGADQRS\docs\defense-ppt\shots\03-recrui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3886200"/>
            <a:ext cx="2907792" cy="18105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438144" y="3831336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pic>
        <p:nvPicPr>
          <p:cNvPr id="14" name="Image 3" descr="F:\xm\SGADQRS\docs\defense-ppt\shots\04-admin-stat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93008" y="3886200"/>
            <a:ext cx="2907792" cy="18105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583387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招募广场 / 管理员数据统计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537960" y="1417320"/>
            <a:ext cx="5193792" cy="4572000"/>
          </a:xfrm>
          <a:prstGeom prst="roundRect">
            <a:avLst>
              <a:gd name="adj" fmla="val 1200"/>
            </a:avLst>
          </a:prstGeom>
          <a:solidFill>
            <a:srgbClr val="EEF0F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784848" y="1627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组件化工程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784848" y="2148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4400" dirty="0"/>
          </a:p>
        </p:txBody>
      </p:sp>
      <p:sp>
        <p:nvSpPr>
          <p:cNvPr id="19" name="Text 13"/>
          <p:cNvSpPr/>
          <p:nvPr/>
        </p:nvSpPr>
        <p:spPr>
          <a:xfrm>
            <a:off x="6784848" y="3044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通用组件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418320" y="2148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25+</a:t>
            </a:r>
            <a:endParaRPr lang="en-US" sz="4400" dirty="0"/>
          </a:p>
        </p:txBody>
      </p:sp>
      <p:sp>
        <p:nvSpPr>
          <p:cNvPr id="21" name="Text 15"/>
          <p:cNvSpPr/>
          <p:nvPr/>
        </p:nvSpPr>
        <p:spPr>
          <a:xfrm>
            <a:off x="9418320" y="3044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业务页面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784848" y="3566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13.9k</a:t>
            </a:r>
            <a:endParaRPr lang="en-US" sz="4400" dirty="0"/>
          </a:p>
        </p:txBody>
      </p:sp>
      <p:sp>
        <p:nvSpPr>
          <p:cNvPr id="23" name="Text 17"/>
          <p:cNvSpPr/>
          <p:nvPr/>
        </p:nvSpPr>
        <p:spPr>
          <a:xfrm>
            <a:off x="6784848" y="4462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前端代码行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418320" y="3566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5.1k</a:t>
            </a:r>
            <a:endParaRPr lang="en-US" sz="4400" dirty="0"/>
          </a:p>
        </p:txBody>
      </p:sp>
      <p:sp>
        <p:nvSpPr>
          <p:cNvPr id="25" name="Text 19"/>
          <p:cNvSpPr/>
          <p:nvPr/>
        </p:nvSpPr>
        <p:spPr>
          <a:xfrm>
            <a:off x="9418320" y="4462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后端代码行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784848" y="52578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GlassModal · EmptyState · PageSkeleton · ListMeta · statusBadge…… 统一命名与职责，跨页面复用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创新点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四大亮点，答辩问题 10 的答案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371600" y="1371600"/>
            <a:ext cx="10360152" cy="1060704"/>
          </a:xfrm>
          <a:prstGeom prst="roundRect">
            <a:avLst>
              <a:gd name="adj" fmla="val 5172"/>
            </a:avLst>
          </a:prstGeom>
          <a:solidFill>
            <a:srgbClr val="F6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5179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社区化组队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80560" y="149961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把“报名系统”升级为“组队社区”：招募 / 求组 / 互看双向匹配，帖子即队伍，闭环成团报赛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642616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371600" y="2596896"/>
            <a:ext cx="10360152" cy="1060704"/>
          </a:xfrm>
          <a:prstGeom prst="roundRect">
            <a:avLst>
              <a:gd name="adj" fmla="val 5172"/>
            </a:avLst>
          </a:prstGeom>
          <a:solidFill>
            <a:srgbClr val="F6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全生命周期状态机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80560" y="27249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竞赛状态自动推进，团队审核意见级联同步到每位成员，杜绝流程状态不一致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867912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371600" y="3822192"/>
            <a:ext cx="10360152" cy="1060704"/>
          </a:xfrm>
          <a:prstGeom prst="roundRect">
            <a:avLst>
              <a:gd name="adj" fmla="val 5172"/>
            </a:avLst>
          </a:prstGeom>
          <a:solidFill>
            <a:srgbClr val="F6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396849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灵活的数据设计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80560" y="395020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字段承载自定义奖项与附件，8 表精简结构支撑全业务，兼顾灵活与可维护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509320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371600" y="5047488"/>
            <a:ext cx="10360152" cy="1060704"/>
          </a:xfrm>
          <a:prstGeom prst="roundRect">
            <a:avLst>
              <a:gd name="adj" fmla="val 5172"/>
            </a:avLst>
          </a:prstGeom>
          <a:solidFill>
            <a:srgbClr val="F6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51937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全链路可验证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480560" y="5175504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冒烟脚本一键回归 9 步业务闭环 + Swagger 在线接口文档，联调效率高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创新点均来自真实需求调研与工程实践，非“为创新而创新”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系统测试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三层测试策略 · 全链路回归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675120" cy="1298448"/>
          </a:xfrm>
          <a:prstGeom prst="roundRect">
            <a:avLst>
              <a:gd name="adj" fmla="val 4225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7276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819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5361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全链路接口冒烟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1938528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smoke_full.py：注册 → 登录 → 发布竞赛 → 组队 → 报名 → 审核 → 成绩 → 消息，9 步业务闭环自动执行、数据自动清理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6675120" cy="1298448"/>
          </a:xfrm>
          <a:prstGeom prst="roundRect">
            <a:avLst>
              <a:gd name="adj" fmla="val 4225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05409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017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前端验证计划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419856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docs/frontend-test-plan：按模块列验证单，三角色页面逐项覆盖，历史报告留档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334256"/>
            <a:ext cx="6675120" cy="1298448"/>
          </a:xfrm>
          <a:prstGeom prst="roundRect">
            <a:avLst>
              <a:gd name="adj" fmla="val 4225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535424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3730A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445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4988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联调与回归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" y="4901184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版本化迭代 + Swagger 契约对齐，每个大版本发布前跑全链路冒烟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52360" y="1371600"/>
            <a:ext cx="4279392" cy="4434840"/>
          </a:xfrm>
          <a:prstGeom prst="roundRect">
            <a:avLst>
              <a:gd name="adj" fmla="val 1282"/>
            </a:avLst>
          </a:prstGeom>
          <a:solidFill>
            <a:srgbClr val="1E1B3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0" y="1572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覆盖规模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68096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680960" y="28163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 端点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692640" y="28163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数据表全覆盖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3566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25+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7680960" y="4279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页面组件验证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2640" y="3566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692640" y="4279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步冒烟业务闭环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如实说明：单元测试覆盖率仍待提升，已列入下一迭代计划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团队合作（34%）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分工明确 · 沟通高效 · 协作分享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94960" cy="4617720"/>
          </a:xfrm>
          <a:prstGeom prst="roundRect">
            <a:avLst>
              <a:gd name="adj" fmla="val 1188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5727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组员分工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2176272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" y="20848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组长 · 后端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88920" y="2103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（姓名：＿＿＿）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2416" y="24323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 · 数据库 · 核心 Service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3072384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" y="29809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88920" y="29992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（姓名：＿＿＿）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2416" y="33284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25+ 页面 · 35 组件 · 设计系统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" y="3968496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416" y="38770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 · 安全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788920" y="38953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（姓名：＿＿＿）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2416" y="4224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 · JWT 权限 · Excel 导出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4864608"/>
            <a:ext cx="219456" cy="21945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" y="4773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· 文档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88920" y="47914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（姓名：＿＿＿）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416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冒烟脚本 · 开发手册 · 答辩材料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3232" y="55961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分工按“强项 × 工作量 × 学习目标”协商确定，交叉 review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53912" y="1371600"/>
            <a:ext cx="55778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高效协作机制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400800" y="216712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2121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分支协作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766560" y="2432304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分支 → 相互 review → 合并 main，24 次提交留痕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0" y="302666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2980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接口契约先行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766560" y="329184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 Swagger 契约再并行开发，同一事实源编程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388620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38404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文档知识共享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66560" y="4151376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开发手册 + 踩坑记录全员共享，经验不沉淀个人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0" y="474573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47000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例会 + 看板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766560" y="501091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每周同步进度与风险，任务到人、到截止日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0" y="56235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典型事例：接口契约修改 → 站会同步 → 24 小时内前后端上线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项目管理（16%）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周迭代 · 进度可控 · 效益可见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127455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542032"/>
            <a:ext cx="219456" cy="21945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81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6月中旬–6月底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需求调研与设计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问卷访谈 · 竞品分析 · 技术选型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13048" y="2542032"/>
            <a:ext cx="219456" cy="21945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481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7月上旬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框架与数据库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310128" y="28803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前后端骨架 · 8 表模型 · Docker 环境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65976" y="2542032"/>
            <a:ext cx="219456" cy="21945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1481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7月中–8月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63056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核心功能迭代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63056" y="28803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次功能提交 · 每周一个可演示版本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518904" y="2542032"/>
            <a:ext cx="219456" cy="21945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9015984" y="1481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15984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社区化大版本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015984" y="28803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TeamUp 组队社区 · 测试 · 文档沉淀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管理工具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13232" y="465429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969264" y="4590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版本管理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44368" y="4590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分支策略 + 提交规范，版本可回溯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3232" y="502005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969264" y="4956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环境标准化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44368" y="49560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一键搭建 MySQL，消除环境差异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3232" y="538581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969264" y="5321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Swagger 契约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44368" y="53218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接口单一事实源，前后端并行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3232" y="575157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969264" y="5687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冒烟回归脚本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44368" y="56875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每版本发布前自动验证核心链路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45352" y="397764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范围控制 · 效益分析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92240" y="465429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4572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功能分级防蔓延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12480" y="45902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 / 期望两级，先保核心链路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92240" y="515721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50749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进度滞后预案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412480" y="50932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先交付可演示核心，再补细节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92240" y="566013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F97316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5577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社会与经济效益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12480" y="5596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降低组织成本 · 沉淀数据资产 · 可复制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Git 提交历史：第 1 次提交 2026-06-12 → 最新提交 2026-09-07，共 24 次版本化提交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难点攻关与经验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三个真实难题与解法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25880" y="1371600"/>
            <a:ext cx="3977640" cy="1335024"/>
          </a:xfrm>
          <a:prstGeom prst="roundRect">
            <a:avLst>
              <a:gd name="adj" fmla="val 4110"/>
            </a:avLst>
          </a:prstGeom>
          <a:solidFill>
            <a:srgbClr val="FEF3E2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499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5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17739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字段前端白屏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554480" y="215798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awards / attachments 是 MySQL JSON 字符串，前端 .map() 直接崩溃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0" y="1371600"/>
            <a:ext cx="6702552" cy="1335024"/>
          </a:xfrm>
          <a:prstGeom prst="roundRect">
            <a:avLst>
              <a:gd name="adj" fmla="val 4110"/>
            </a:avLst>
          </a:prstGeom>
          <a:solidFill>
            <a:srgbClr val="ED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499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18288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后端自定义 getter 反序列化为数组，前端再加 JSON.parse 兜底，双保险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325880" y="2889504"/>
            <a:ext cx="3977640" cy="1335024"/>
          </a:xfrm>
          <a:prstGeom prst="roundRect">
            <a:avLst>
              <a:gd name="adj" fmla="val 4110"/>
            </a:avLst>
          </a:prstGeom>
          <a:solidFill>
            <a:srgbClr val="FEF3E2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017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5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3291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审核状态级联一致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367588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审核团队后，所有成员的报名记录需同步状态与意见，易漏写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0" y="2889504"/>
            <a:ext cx="6702552" cy="1335024"/>
          </a:xfrm>
          <a:prstGeom prst="roundRect">
            <a:avLst>
              <a:gd name="adj" fmla="val 4110"/>
            </a:avLst>
          </a:prstGeom>
          <a:solidFill>
            <a:srgbClr val="ED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3017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15000" y="334670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层单事务内级联更新全成员记录，保持数据一致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42569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325880" y="4407408"/>
            <a:ext cx="3977640" cy="1335024"/>
          </a:xfrm>
          <a:prstGeom prst="roundRect">
            <a:avLst>
              <a:gd name="adj" fmla="val 4110"/>
            </a:avLst>
          </a:prstGeom>
          <a:solidFill>
            <a:srgbClr val="FEF3E2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4535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5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54480" y="4809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前后端参数契约不一致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554480" y="519379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批量接口前端传 {ids}，后端期望裸数组，调用即 400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0" y="4407408"/>
            <a:ext cx="6702552" cy="1335024"/>
          </a:xfrm>
          <a:prstGeom prst="roundRect">
            <a:avLst>
              <a:gd name="adj" fmla="val 4110"/>
            </a:avLst>
          </a:prstGeom>
          <a:solidFill>
            <a:srgbClr val="ED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4535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486460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Swagger 契约为准统一修正；教训：接口契约先行，避免各写各的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5989320"/>
            <a:ext cx="11274552" cy="475488"/>
          </a:xfrm>
          <a:prstGeom prst="roundRect">
            <a:avLst>
              <a:gd name="adj" fmla="val 13462"/>
            </a:avLst>
          </a:prstGeom>
          <a:solidFill>
            <a:srgbClr val="1E1B3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9984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联调经验：异常与状态码全局统一 · 问题沉淀进踩坑文档 · 先定契约再编码 —— 可直接回答答辩问题 17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总结与展望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成果一览 · 不足与下一步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54512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54512" y="896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02736" cy="1389888"/>
          </a:xfrm>
          <a:prstGeom prst="roundRect">
            <a:avLst>
              <a:gd name="adj" fmla="val 3947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63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13.9k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2951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前端代码行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602736" cy="1389888"/>
          </a:xfrm>
          <a:prstGeom prst="roundRect">
            <a:avLst>
              <a:gd name="adj" fmla="val 3947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563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26280" y="22951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后端代码行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602736" cy="1389888"/>
          </a:xfrm>
          <a:prstGeom prst="roundRect">
            <a:avLst>
              <a:gd name="adj" fmla="val 3947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563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66760" y="22951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端点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602736" cy="1389888"/>
          </a:xfrm>
          <a:prstGeom prst="roundRect">
            <a:avLst>
              <a:gd name="adj" fmla="val 3947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1638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5800" y="38953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0" y="3017520"/>
            <a:ext cx="3602736" cy="1389888"/>
          </a:xfrm>
          <a:prstGeom prst="roundRect">
            <a:avLst>
              <a:gd name="adj" fmla="val 3947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26280" y="31638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26280" y="38953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通用组件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3017520"/>
            <a:ext cx="3602736" cy="1389888"/>
          </a:xfrm>
          <a:prstGeom prst="roundRect">
            <a:avLst>
              <a:gd name="adj" fmla="val 3947"/>
            </a:avLst>
          </a:prstGeom>
          <a:solidFill>
            <a:srgbClr val="F6F7F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22304A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66760" y="31638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周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366760" y="38953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按期交付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11274552" cy="1481328"/>
          </a:xfrm>
          <a:prstGeom prst="roundRect">
            <a:avLst>
              <a:gd name="adj" fmla="val 3704"/>
            </a:avLst>
          </a:prstGeom>
          <a:solidFill>
            <a:srgbClr val="EEF0FE"/>
          </a:solidFill>
          <a:ln w="12700">
            <a:solidFill>
              <a:srgbClr val="D6D9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88289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功能完成度：需求分析阶段 5 大模块全部实现并上线可演示；对照“功能是否全部实现”——是，含需求评审时的附加功能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53035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不足与展望：① 单元测试 / E2E 覆盖待补齐　② 消息实时性升级为 WebSocket 推送　③ 技能标签驱动的智能组队推荐　④ 移动端适配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57790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诚实呈现不足，同时给出明确的改进路线 —— 对应答辩问题 11 / 12 / 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754880" cy="475488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4023360" cy="4023360"/>
          </a:xfrm>
          <a:prstGeom prst="ellipse">
            <a:avLst/>
          </a:prstGeom>
          <a:solidFill>
            <a:srgbClr val="F9731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488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恳请各位老师批评指正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赛友 TeamUp —— 让每一场竞赛，都有可靠的队友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＿ 组 · 2026 年 9 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赛友 TeamUp — 学生竞赛信息管理与组队社区平台</dc:title>
  <dc:subject>PptxGenJS Presentation</dc:subject>
  <dc:creator>TeamUp 小组</dc:creator>
  <cp:lastModifiedBy>TeamUp 小组</cp:lastModifiedBy>
  <cp:revision>1</cp:revision>
  <dcterms:created xsi:type="dcterms:W3CDTF">2026-09-09T02:35:55Z</dcterms:created>
  <dcterms:modified xsi:type="dcterms:W3CDTF">2026-09-09T02:35:55Z</dcterms:modified>
</cp:coreProperties>
</file>